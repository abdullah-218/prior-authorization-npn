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9" r:id="rId6"/>
    <p:sldId id="261" r:id="rId7"/>
    <p:sldId id="260" r:id="rId8"/>
    <p:sldId id="262" r:id="rId9"/>
    <p:sldId id="278" r:id="rId10"/>
    <p:sldId id="263" r:id="rId11"/>
    <p:sldId id="274" r:id="rId12"/>
    <p:sldId id="264" r:id="rId13"/>
    <p:sldId id="275" r:id="rId14"/>
    <p:sldId id="276" r:id="rId15"/>
    <p:sldId id="277" r:id="rId16"/>
    <p:sldId id="28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4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97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46D0D-BC2D-3E8A-236A-C69F854C2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8CF1F-E021-3121-4774-2F727E138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4587E-0206-D792-5A66-69A098C02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25345-231C-E713-19B3-95CDD235E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41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892"/>
            <a:ext cx="12192000" cy="69048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986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56972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is the approval a health insurer requires before certain treatments, procedures, or medications are covered — one of the most scrutinized payer processes today, because speed, accuracy, transparency, and provider experience all matter at once.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365760" cy="365760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250545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80360" y="21854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wait on manual policy and clinical review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3942" y="2788732"/>
            <a:ext cx="365760" cy="365760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483942" y="277529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8137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2834827"/>
            <a:ext cx="46936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depend heavily on individual reviewer interpretation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484797"/>
            <a:ext cx="365760" cy="365760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Text 12"/>
          <p:cNvSpPr/>
          <p:nvPr/>
        </p:nvSpPr>
        <p:spPr>
          <a:xfrm>
            <a:off x="502920" y="348479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1385" y="3484797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80358" y="3540594"/>
            <a:ext cx="46936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and patients rarely see which criteria drove a decision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6635" y="4204002"/>
            <a:ext cx="365760" cy="365760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483942" y="42174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5806" y="42540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Evidence-heavy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61382" y="4264836"/>
            <a:ext cx="46936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cross-reference policy, records, and documents by hand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7252" y="4920031"/>
            <a:ext cx="365760" cy="365760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2" name="Text 20"/>
          <p:cNvSpPr/>
          <p:nvPr/>
        </p:nvSpPr>
        <p:spPr>
          <a:xfrm>
            <a:off x="498255" y="491350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96855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prioritize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861382" y="4857143"/>
            <a:ext cx="47800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cases sit in submission order even as urgency changes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58125" y="1231734"/>
            <a:ext cx="4343400" cy="5074920"/>
          </a:xfrm>
          <a:prstGeom prst="roundRect">
            <a:avLst>
              <a:gd name="adj" fmla="val 2105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6" name="Text 24"/>
          <p:cNvSpPr/>
          <p:nvPr/>
        </p:nvSpPr>
        <p:spPr>
          <a:xfrm>
            <a:off x="7726680" y="162763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5800" dirty="0"/>
          </a:p>
        </p:txBody>
      </p:sp>
      <p:sp>
        <p:nvSpPr>
          <p:cNvPr id="27" name="Text 25"/>
          <p:cNvSpPr/>
          <p:nvPr/>
        </p:nvSpPr>
        <p:spPr>
          <a:xfrm>
            <a:off x="7726680" y="2405805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physicians report that prior-authorization delays directly lead to care delays for patients — and 88% call the administrative burden high or extremely high.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26680" y="3794573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AMA Prior Authorization Physician Survey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41455" y="4267448"/>
            <a:ext cx="3611880" cy="0"/>
          </a:xfrm>
          <a:prstGeom prst="line">
            <a:avLst/>
          </a:prstGeom>
          <a:noFill/>
          <a:ln w="12700">
            <a:solidFill>
              <a:srgbClr val="1B5A7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0" name="Text 28"/>
          <p:cNvSpPr/>
          <p:nvPr/>
        </p:nvSpPr>
        <p:spPr>
          <a:xfrm>
            <a:off x="7726680" y="44831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ProAuth IQ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05870" y="4806617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below exists to remove one specific cause of delay, inconsistency, or opacity — not to replace clinical judgment.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32B7EA2-6B5E-1BE2-5FB6-CFD15D4A4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6331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6247" y="11887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ProAuth IQ provides an evidence-grounded prior-authorization pipeline. A doctor submits a request; the system retrieves policy evidence, evaluates clinical and documentation criteria, and produces an explainable recommendation — with a separate model prioritizing whatever still needs a human.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472184" cy="233172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Shape 4"/>
          <p:cNvSpPr/>
          <p:nvPr/>
        </p:nvSpPr>
        <p:spPr>
          <a:xfrm>
            <a:off x="1065276" y="235000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1065276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" y="2807208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3337092"/>
            <a:ext cx="1325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coverage policy determined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93392" y="331470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2121408" y="2148840"/>
            <a:ext cx="1472184" cy="233172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 dirty="0"/>
          </a:p>
        </p:txBody>
      </p:sp>
      <p:sp>
        <p:nvSpPr>
          <p:cNvPr id="12" name="Shape 10"/>
          <p:cNvSpPr/>
          <p:nvPr/>
        </p:nvSpPr>
        <p:spPr>
          <a:xfrm>
            <a:off x="2683764" y="235000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2683764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2807208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3337092"/>
            <a:ext cx="1325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 over the policy corpus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331470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17" name="Shape 15"/>
          <p:cNvSpPr/>
          <p:nvPr/>
        </p:nvSpPr>
        <p:spPr>
          <a:xfrm>
            <a:off x="3739896" y="2148840"/>
            <a:ext cx="1472184" cy="233172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Shape 16"/>
          <p:cNvSpPr/>
          <p:nvPr/>
        </p:nvSpPr>
        <p:spPr>
          <a:xfrm>
            <a:off x="4302252" y="235000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9" name="Text 17"/>
          <p:cNvSpPr/>
          <p:nvPr/>
        </p:nvSpPr>
        <p:spPr>
          <a:xfrm>
            <a:off x="4302252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2807208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+ Docs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13048" y="3314700"/>
            <a:ext cx="1325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and required paperwork checked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30368" y="331470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23" name="Shape 21"/>
          <p:cNvSpPr/>
          <p:nvPr/>
        </p:nvSpPr>
        <p:spPr>
          <a:xfrm>
            <a:off x="5349240" y="2148840"/>
            <a:ext cx="1472184" cy="233172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 dirty="0"/>
          </a:p>
        </p:txBody>
      </p:sp>
      <p:sp>
        <p:nvSpPr>
          <p:cNvPr id="24" name="Shape 22"/>
          <p:cNvSpPr/>
          <p:nvPr/>
        </p:nvSpPr>
        <p:spPr>
          <a:xfrm>
            <a:off x="5920740" y="235000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5" name="Text 23"/>
          <p:cNvSpPr/>
          <p:nvPr/>
        </p:nvSpPr>
        <p:spPr>
          <a:xfrm>
            <a:off x="5920740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2807208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31536" y="3337093"/>
            <a:ext cx="1325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evidence + feature vector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48856" y="331470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29" name="Shape 27"/>
          <p:cNvSpPr/>
          <p:nvPr/>
        </p:nvSpPr>
        <p:spPr>
          <a:xfrm>
            <a:off x="6976872" y="2148840"/>
            <a:ext cx="1472184" cy="2331720"/>
          </a:xfrm>
          <a:prstGeom prst="roundRect">
            <a:avLst>
              <a:gd name="adj" fmla="val 5590"/>
            </a:avLst>
          </a:prstGeom>
          <a:solidFill>
            <a:srgbClr val="0F3A4D"/>
          </a:solidFill>
          <a:ln w="12700">
            <a:solidFill>
              <a:srgbClr val="0F3A4D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0" name="Shape 28"/>
          <p:cNvSpPr/>
          <p:nvPr/>
        </p:nvSpPr>
        <p:spPr>
          <a:xfrm>
            <a:off x="7539228" y="2350008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1" name="Text 29"/>
          <p:cNvSpPr/>
          <p:nvPr/>
        </p:nvSpPr>
        <p:spPr>
          <a:xfrm>
            <a:off x="7539228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31736" y="2807208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50024" y="3355848"/>
            <a:ext cx="1325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Pend, with confidence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67344" y="331470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35" name="Shape 33"/>
          <p:cNvSpPr/>
          <p:nvPr/>
        </p:nvSpPr>
        <p:spPr>
          <a:xfrm>
            <a:off x="8595360" y="2148840"/>
            <a:ext cx="1472184" cy="233172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6" name="Shape 34"/>
          <p:cNvSpPr/>
          <p:nvPr/>
        </p:nvSpPr>
        <p:spPr>
          <a:xfrm>
            <a:off x="9157716" y="235000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7" name="Text 35"/>
          <p:cNvSpPr/>
          <p:nvPr/>
        </p:nvSpPr>
        <p:spPr>
          <a:xfrm>
            <a:off x="9157716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50224" y="2807208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68512" y="3250692"/>
            <a:ext cx="1325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reasoning generated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085832" y="331470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41" name="Shape 39"/>
          <p:cNvSpPr/>
          <p:nvPr/>
        </p:nvSpPr>
        <p:spPr>
          <a:xfrm>
            <a:off x="10213848" y="2148840"/>
            <a:ext cx="1472184" cy="233172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2" name="Shape 40"/>
          <p:cNvSpPr/>
          <p:nvPr/>
        </p:nvSpPr>
        <p:spPr>
          <a:xfrm>
            <a:off x="10776204" y="235000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43" name="Text 41"/>
          <p:cNvSpPr/>
          <p:nvPr/>
        </p:nvSpPr>
        <p:spPr>
          <a:xfrm>
            <a:off x="10776204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268712" y="2807208"/>
            <a:ext cx="13624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287000" y="3250692"/>
            <a:ext cx="1325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cases ranked for nurses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4800600"/>
            <a:ext cx="11183112" cy="982978"/>
          </a:xfrm>
          <a:prstGeom prst="roundRect">
            <a:avLst>
              <a:gd name="adj" fmla="val 12903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47" name="Text 45"/>
          <p:cNvSpPr/>
          <p:nvPr/>
        </p:nvSpPr>
        <p:spPr>
          <a:xfrm>
            <a:off x="777240" y="4800599"/>
            <a:ext cx="10607040" cy="9601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replace clinical or insurance reviewers — it's to remove repetitive evidence-gathering work and make human review faster, more consistent, and more explainable.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A58A4CC-E846-081D-663E-A3209AE53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flow from four role-based portals through an agent-orchestrated triage pipeline into a priority-ranked review queue — with policy versions, model versions, and every decision fully audited.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625" y="1600200"/>
            <a:ext cx="11789857" cy="5148072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  <a:effectLst>
            <a:outerShdw blurRad="101600" dist="25400" dir="5400000" algn="bl" rotWithShape="0">
              <a:srgbClr val="1B2B34">
                <a:alpha val="14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pic>
        <p:nvPicPr>
          <p:cNvPr id="6" name="Image 0" descr="/home/claude/work3/assets/architecture_given.jpg"/>
          <p:cNvPicPr>
            <a:picLocks noChangeAspect="1"/>
          </p:cNvPicPr>
          <p:nvPr/>
        </p:nvPicPr>
        <p:blipFill>
          <a:blip r:embed="rId3"/>
          <a:srcRect t="8348" b="8705"/>
          <a:stretch>
            <a:fillRect/>
          </a:stretch>
        </p:blipFill>
        <p:spPr>
          <a:xfrm>
            <a:off x="345234" y="1627632"/>
            <a:ext cx="11719248" cy="4782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F3EC5D-A2D5-453C-0C39-4A4E1A2DF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6165853"/>
            <a:ext cx="2127380" cy="7091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4F80F-A0C8-1242-AB93-C1E00CB1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2745485-6145-B254-6DE8-EA87687D7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9"/>
            <a:ext cx="12177198" cy="684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5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RETRIEVAL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Every Decision in Real Policy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give evidence for policy interpretation rather than relying on an LLM's pretrained memory of coverage rules.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0060" y="1700784"/>
            <a:ext cx="1487859" cy="777240"/>
          </a:xfrm>
          <a:prstGeom prst="roundRect">
            <a:avLst>
              <a:gd name="adj" fmla="val 941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557784" y="1673352"/>
            <a:ext cx="137813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99923" y="198882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2118795" y="1700784"/>
            <a:ext cx="1487859" cy="777240"/>
          </a:xfrm>
          <a:prstGeom prst="roundRect">
            <a:avLst>
              <a:gd name="adj" fmla="val 941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2173659" y="1673352"/>
            <a:ext cx="137813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15799" y="198882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3734671" y="1700784"/>
            <a:ext cx="1487859" cy="777240"/>
          </a:xfrm>
          <a:prstGeom prst="roundRect">
            <a:avLst>
              <a:gd name="adj" fmla="val 941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3789535" y="1673352"/>
            <a:ext cx="137813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31674" y="198882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14" name="Shape 12"/>
          <p:cNvSpPr/>
          <p:nvPr/>
        </p:nvSpPr>
        <p:spPr>
          <a:xfrm>
            <a:off x="5341402" y="1700784"/>
            <a:ext cx="1487859" cy="777240"/>
          </a:xfrm>
          <a:prstGeom prst="roundRect">
            <a:avLst>
              <a:gd name="adj" fmla="val 941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5405410" y="1673352"/>
            <a:ext cx="137813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47550" y="198882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17" name="Shape 15"/>
          <p:cNvSpPr/>
          <p:nvPr/>
        </p:nvSpPr>
        <p:spPr>
          <a:xfrm>
            <a:off x="6966422" y="1696212"/>
            <a:ext cx="1487859" cy="777240"/>
          </a:xfrm>
          <a:prstGeom prst="roundRect">
            <a:avLst>
              <a:gd name="adj" fmla="val 941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7021286" y="1673352"/>
            <a:ext cx="137813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63425" y="198882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20" name="Shape 18"/>
          <p:cNvSpPr/>
          <p:nvPr/>
        </p:nvSpPr>
        <p:spPr>
          <a:xfrm>
            <a:off x="8582297" y="1700784"/>
            <a:ext cx="1487859" cy="777240"/>
          </a:xfrm>
          <a:prstGeom prst="roundRect">
            <a:avLst>
              <a:gd name="adj" fmla="val 941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Text 19"/>
          <p:cNvSpPr/>
          <p:nvPr/>
        </p:nvSpPr>
        <p:spPr>
          <a:xfrm>
            <a:off x="8637161" y="1673352"/>
            <a:ext cx="137813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79301" y="1988820"/>
            <a:ext cx="109728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23" name="Shape 21"/>
          <p:cNvSpPr/>
          <p:nvPr/>
        </p:nvSpPr>
        <p:spPr>
          <a:xfrm>
            <a:off x="10198173" y="1696212"/>
            <a:ext cx="1487859" cy="777240"/>
          </a:xfrm>
          <a:prstGeom prst="roundRect">
            <a:avLst>
              <a:gd name="adj" fmla="val 9412"/>
            </a:avLst>
          </a:prstGeom>
          <a:solidFill>
            <a:srgbClr val="0F3A4D"/>
          </a:solidFill>
          <a:ln w="12700">
            <a:solidFill>
              <a:srgbClr val="0F3A4D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4" name="Text 22"/>
          <p:cNvSpPr/>
          <p:nvPr/>
        </p:nvSpPr>
        <p:spPr>
          <a:xfrm>
            <a:off x="10253037" y="1673352"/>
            <a:ext cx="137813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Policy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" y="2807208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 dirty="0"/>
          </a:p>
        </p:txBody>
      </p:sp>
      <p:sp>
        <p:nvSpPr>
          <p:cNvPr id="26" name="Text 24"/>
          <p:cNvSpPr/>
          <p:nvPr/>
        </p:nvSpPr>
        <p:spPr>
          <a:xfrm>
            <a:off x="758952" y="2880360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STORAGE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" y="3227832"/>
            <a:ext cx="4928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" y="3447288"/>
            <a:ext cx="4928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pgvector — the same relational database as the rest of the app, not a separate system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" y="3977640"/>
            <a:ext cx="4928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8952" y="4197096"/>
            <a:ext cx="4928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sentence-transformers/all-MiniLM-L6-v2, 384 dimensions, cosine-normalized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8952" y="4727448"/>
            <a:ext cx="4928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" y="4946904"/>
            <a:ext cx="4928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List-aware: named criteria become their own chunk; otherwise a 220-word window with 40-word overlap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8952" y="5477256"/>
            <a:ext cx="4928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" y="5569204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 on the embedding column, operator vector_cosine_ops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62040" y="2767849"/>
            <a:ext cx="5532120" cy="3429000"/>
          </a:xfrm>
          <a:prstGeom prst="roundRect">
            <a:avLst>
              <a:gd name="adj" fmla="val 2400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6" name="Text 34"/>
          <p:cNvSpPr/>
          <p:nvPr/>
        </p:nvSpPr>
        <p:spPr>
          <a:xfrm>
            <a:off x="6409944" y="2880360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9944" y="3143747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candidate policies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18072" y="3323865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each policy by its single best-matching chunk, filtered to the patient's payer and jurisdiction; keeps the top 3 within a 0.10 relative margin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9944" y="3927369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deep retrieval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9944" y="4117890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up to 8 chunks per surviving policy (max 3 per section), returns up to 18 chunks total to the Policy Agent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9944" y="4727845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9944" y="4910328"/>
            <a:ext cx="5020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≤0.35 = HIGH · ≤0.50 = MEDIUM · above = LOW, converted to a continuous relevance score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9944" y="5571479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policy → the request routes straight to PEND before the ML model ever runs.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C1E157F-0DD3-6BC0-1F35-18B86AAA5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Design — Why Agents, What Each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9496" y="1152751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gather and structure unstructured evidence; a small, auditable ML model makes the actual call. None of the six agents below ever outputs APPROVE, PEND, or MORE INFORMATION.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75802"/>
            <a:ext cx="2686050" cy="73152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539496" y="1822969"/>
            <a:ext cx="257632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evidence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62579"/>
            <a:ext cx="253974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text &amp; notes need reading, not raw math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5274" y="1768524"/>
            <a:ext cx="2686050" cy="73152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3371850" y="1832346"/>
            <a:ext cx="257632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needs language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90138" y="2071116"/>
            <a:ext cx="253974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needs a reason, not a probability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3249" y="1779161"/>
            <a:ext cx="2686050" cy="73152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6185799" y="1832346"/>
            <a:ext cx="257632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decisions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0780" y="2071116"/>
            <a:ext cx="253974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calls must be reproducible &amp; testable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31224" y="1779161"/>
            <a:ext cx="2686050" cy="73152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9031224" y="1822969"/>
            <a:ext cx="257632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enforcement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73134" y="2051988"/>
            <a:ext cx="253974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runs only after the decision, never before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36057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Shape 16"/>
          <p:cNvSpPr/>
          <p:nvPr/>
        </p:nvSpPr>
        <p:spPr>
          <a:xfrm>
            <a:off x="667512" y="3055308"/>
            <a:ext cx="1271016" cy="301565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9" name="Text 17"/>
          <p:cNvSpPr/>
          <p:nvPr/>
        </p:nvSpPr>
        <p:spPr>
          <a:xfrm>
            <a:off x="708855" y="310975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946" y="3356874"/>
            <a:ext cx="3276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Evidence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946" y="3666744"/>
            <a:ext cx="3276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applicable policy, calls the RAG tool for real, and returns coverage status, criteria, and required documents.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82440" y="2962656"/>
            <a:ext cx="36057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Shape 21"/>
          <p:cNvSpPr/>
          <p:nvPr/>
        </p:nvSpPr>
        <p:spPr>
          <a:xfrm>
            <a:off x="4491024" y="3098508"/>
            <a:ext cx="1457148" cy="293916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4" name="Text 22"/>
          <p:cNvSpPr/>
          <p:nvPr/>
        </p:nvSpPr>
        <p:spPr>
          <a:xfrm>
            <a:off x="4561293" y="3148335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47032" y="3319271"/>
            <a:ext cx="3276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 Agent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56176" y="3639312"/>
            <a:ext cx="3276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clinical facts from the justification, grades each named policy criterion PASS / FAIL / UNKNOWN.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61960" y="2980944"/>
            <a:ext cx="36057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8" name="Shape 26"/>
          <p:cNvSpPr/>
          <p:nvPr/>
        </p:nvSpPr>
        <p:spPr>
          <a:xfrm>
            <a:off x="8183786" y="3082086"/>
            <a:ext cx="1613357" cy="274788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9" name="Text 27"/>
          <p:cNvSpPr/>
          <p:nvPr/>
        </p:nvSpPr>
        <p:spPr>
          <a:xfrm>
            <a:off x="8183444" y="3099815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58843" y="3337560"/>
            <a:ext cx="3276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Agent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40446" y="3622330"/>
            <a:ext cx="3276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keyword/category match of required vs. submitted documents — no LLM, no content understanding.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846320"/>
            <a:ext cx="36057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3" name="Shape 31"/>
          <p:cNvSpPr/>
          <p:nvPr/>
        </p:nvSpPr>
        <p:spPr>
          <a:xfrm>
            <a:off x="576072" y="4956048"/>
            <a:ext cx="1444752" cy="27432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4" name="Text 32"/>
          <p:cNvSpPr/>
          <p:nvPr/>
        </p:nvSpPr>
        <p:spPr>
          <a:xfrm>
            <a:off x="658368" y="498348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" y="5285232"/>
            <a:ext cx="3276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Reasoning Agent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76072" y="5577280"/>
            <a:ext cx="3276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assembly layer — turns three evidence objects into the feature vector and gate flags the model reads.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91584" y="4828032"/>
            <a:ext cx="36057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Shape 36"/>
          <p:cNvSpPr/>
          <p:nvPr/>
        </p:nvSpPr>
        <p:spPr>
          <a:xfrm>
            <a:off x="4447032" y="4901184"/>
            <a:ext cx="1225980" cy="301752"/>
          </a:xfrm>
          <a:prstGeom prst="roundRect">
            <a:avLst>
              <a:gd name="adj" fmla="val 50000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9" name="Text 37"/>
          <p:cNvSpPr/>
          <p:nvPr/>
        </p:nvSpPr>
        <p:spPr>
          <a:xfrm>
            <a:off x="4579962" y="495604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47032" y="5175504"/>
            <a:ext cx="3276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Agent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456176" y="5449824"/>
            <a:ext cx="3276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strictly after the decision exists; converts evidence into plain language and cannot revise the outcome.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61960" y="4828032"/>
            <a:ext cx="36057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 dirty="0"/>
          </a:p>
        </p:txBody>
      </p:sp>
      <p:sp>
        <p:nvSpPr>
          <p:cNvPr id="43" name="Shape 41"/>
          <p:cNvSpPr/>
          <p:nvPr/>
        </p:nvSpPr>
        <p:spPr>
          <a:xfrm>
            <a:off x="8213598" y="4950916"/>
            <a:ext cx="1311402" cy="248288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44" name="Text 42"/>
          <p:cNvSpPr/>
          <p:nvPr/>
        </p:nvSpPr>
        <p:spPr>
          <a:xfrm>
            <a:off x="8140446" y="49523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26552" y="5199204"/>
            <a:ext cx="3276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Agent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44840" y="5504688"/>
            <a:ext cx="3276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Zero-LLM workflow — validates, computes queue features, and coordinates the XGBoost ranker.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71FCBBE-564F-0F06-70BB-59D93118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162743"/>
            <a:ext cx="2136710" cy="712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MODEL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logistic regression (L1) · scikit-learn pipeline (StandardScaler → LogisticRegression) · decides APPROVE vs. PEND only after every safety gate has cleared.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4-FEATURE VECTOR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956816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7" name="Text 5"/>
          <p:cNvSpPr/>
          <p:nvPr/>
        </p:nvSpPr>
        <p:spPr>
          <a:xfrm>
            <a:off x="704088" y="2020824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r>
              <a:rPr lang="en-US" sz="1250" b="1" dirty="0">
                <a:solidFill>
                  <a:srgbClr val="0F3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2249424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the retrieved policy evidence applies to the request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615184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Text 8"/>
          <p:cNvSpPr/>
          <p:nvPr/>
        </p:nvSpPr>
        <p:spPr>
          <a:xfrm>
            <a:off x="704088" y="2679192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r>
              <a:rPr lang="en-US" sz="1250" b="1" dirty="0">
                <a:solidFill>
                  <a:srgbClr val="0F3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documentation_score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2907792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required documents present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3" name="Text 11"/>
          <p:cNvSpPr/>
          <p:nvPr/>
        </p:nvSpPr>
        <p:spPr>
          <a:xfrm>
            <a:off x="704088" y="3337560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r>
              <a:rPr lang="en-US" sz="1250" b="1" dirty="0">
                <a:solidFill>
                  <a:srgbClr val="0F3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clinical_evidence_score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3566160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named policy criteria satisfied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704088" y="3995928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r>
              <a:rPr lang="en-US" sz="1250" b="1" dirty="0" err="1">
                <a:solidFill>
                  <a:srgbClr val="0F3A4D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num_criteria_missing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" y="4224528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diagnosis is policy-supported (zeroed by L1 when uninformative)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645151"/>
            <a:ext cx="6309360" cy="1801369"/>
          </a:xfrm>
          <a:prstGeom prst="roundRect">
            <a:avLst>
              <a:gd name="adj" fmla="val 3333"/>
            </a:avLst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9" name="Text 17"/>
          <p:cNvSpPr/>
          <p:nvPr/>
        </p:nvSpPr>
        <p:spPr>
          <a:xfrm>
            <a:off x="704088" y="4754880"/>
            <a:ext cx="5907024" cy="1505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 </a:t>
            </a: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14,000 requests across 9 Medicare service categories; one full category held out fully unseen.
</a:t>
            </a: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 </a:t>
            </a: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reduce wrongful approvals — treated as 3× more costly than a wrongful pend.
</a:t>
            </a: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L1   </a:t>
            </a: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zeroes out weak features automatically, keeping the model simple and fully explainable.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3856" y="1381304"/>
            <a:ext cx="4602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· 916 REQUESTS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348324"/>
              </p:ext>
            </p:extLst>
          </p:nvPr>
        </p:nvGraphicFramePr>
        <p:xfrm>
          <a:off x="7083855" y="1637336"/>
          <a:ext cx="4602175" cy="22031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3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7086600" y="3931920"/>
            <a:ext cx="4602175" cy="2816352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9525">
            <a:solidFill>
              <a:srgbClr val="E1EAEA"/>
            </a:solidFill>
            <a:prstDash val="solid"/>
          </a:ln>
          <a:effectLst>
            <a:outerShdw blurRad="50800" dist="12700" dir="5400000" algn="bl" rotWithShape="0">
              <a:srgbClr val="1B2B34">
                <a:alpha val="12000"/>
              </a:srgbClr>
            </a:outerShdw>
          </a:effectLst>
        </p:spPr>
        <p:txBody>
          <a:bodyPr/>
          <a:lstStyle/>
          <a:p>
            <a:endParaRPr lang="en-HK" dirty="0"/>
          </a:p>
        </p:txBody>
      </p:sp>
      <p:pic>
        <p:nvPicPr>
          <p:cNvPr id="23" name="Image 0" descr="./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1" y="3931920"/>
            <a:ext cx="4599430" cy="28163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338560" y="6446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A9D1923-1952-E883-BF92-6ECAD4ECB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6193845"/>
            <a:ext cx="2043404" cy="681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MODEL 1 OF 2 · CONTINUED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&amp;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classifiers were benchmarked head-to-head before selection; the chosen model was then validated on a held-out confusion matrix.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· 6 CLASSIFIERS EVALUATED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6756296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9525">
            <a:solidFill>
              <a:srgbClr val="E1EAEA"/>
            </a:solidFill>
            <a:prstDash val="solid"/>
          </a:ln>
          <a:effectLst>
            <a:outerShdw blurRad="50800" dist="12700" dir="5400000" algn="bl" rotWithShape="0">
              <a:srgbClr val="1B2B34">
                <a:alpha val="10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pic>
        <p:nvPicPr>
          <p:cNvPr id="7" name="Image 0" descr="./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87905"/>
            <a:ext cx="6756295" cy="41837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0" y="1572768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· HELD-OUT TEST SET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74336" y="1847088"/>
            <a:ext cx="4265976" cy="4183711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9525">
            <a:solidFill>
              <a:srgbClr val="E1EAEA"/>
            </a:solidFill>
            <a:prstDash val="solid"/>
          </a:ln>
          <a:effectLst>
            <a:outerShdw blurRad="50800" dist="12700" dir="5400000" algn="bl" rotWithShape="0">
              <a:srgbClr val="1B2B34">
                <a:alpha val="10000"/>
              </a:srgbClr>
            </a:outerShdw>
          </a:effectLst>
        </p:spPr>
        <p:txBody>
          <a:bodyPr/>
          <a:lstStyle/>
          <a:p>
            <a:endParaRPr lang="en-HK"/>
          </a:p>
        </p:txBody>
      </p:sp>
      <p:pic>
        <p:nvPicPr>
          <p:cNvPr id="10" name="Image 1" descr=".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498" y="1956816"/>
            <a:ext cx="4227588" cy="38432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199632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Regression:  </a:t>
            </a:r>
            <a:r>
              <a:rPr lang="en-US" sz="11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matched the strongest model (XGBoost) on accuracy and ROC-AUC, so the simpler, fully explainable model was chosen for production.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292840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FFA43F-E4D3-8832-7A39-D495FB9C3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6315143"/>
            <a:ext cx="1679510" cy="5598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MODEL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27736" y="1097280"/>
            <a:ext cx="1176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Ranker (rank:ndcg) · re-orders an already-PEND queue only — it makes no medical decision and never touches an APPROVE or MORE INFORMATION case.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317879" cy="658368"/>
          </a:xfrm>
          <a:prstGeom prst="roundRect">
            <a:avLst>
              <a:gd name="adj" fmla="val 11111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557784" y="1783080"/>
            <a:ext cx="120815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5371" y="2066544"/>
            <a:ext cx="82296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8" name="Shape 6"/>
          <p:cNvSpPr/>
          <p:nvPr/>
        </p:nvSpPr>
        <p:spPr>
          <a:xfrm>
            <a:off x="1912239" y="1737360"/>
            <a:ext cx="1317879" cy="658368"/>
          </a:xfrm>
          <a:prstGeom prst="roundRect">
            <a:avLst>
              <a:gd name="adj" fmla="val 11111"/>
            </a:avLst>
          </a:prstGeom>
          <a:solidFill>
            <a:srgbClr val="F2F0FA"/>
          </a:solidFill>
          <a:ln w="12700">
            <a:solidFill>
              <a:srgbClr val="D8D2F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9" name="Text 7"/>
          <p:cNvSpPr/>
          <p:nvPr/>
        </p:nvSpPr>
        <p:spPr>
          <a:xfrm>
            <a:off x="1967103" y="1783080"/>
            <a:ext cx="13178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Agent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LLM)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34690" y="2066544"/>
            <a:ext cx="82296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11" name="Shape 9"/>
          <p:cNvSpPr/>
          <p:nvPr/>
        </p:nvSpPr>
        <p:spPr>
          <a:xfrm>
            <a:off x="3321558" y="1737360"/>
            <a:ext cx="1317879" cy="658368"/>
          </a:xfrm>
          <a:prstGeom prst="roundRect">
            <a:avLst>
              <a:gd name="adj" fmla="val 11111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2" name="Text 10"/>
          <p:cNvSpPr/>
          <p:nvPr/>
        </p:nvSpPr>
        <p:spPr>
          <a:xfrm>
            <a:off x="3376422" y="1783080"/>
            <a:ext cx="120815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4009" y="2066544"/>
            <a:ext cx="82296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14" name="Shape 12"/>
          <p:cNvSpPr/>
          <p:nvPr/>
        </p:nvSpPr>
        <p:spPr>
          <a:xfrm>
            <a:off x="4730877" y="1737360"/>
            <a:ext cx="1317879" cy="658368"/>
          </a:xfrm>
          <a:prstGeom prst="roundRect">
            <a:avLst>
              <a:gd name="adj" fmla="val 11111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Text 13"/>
          <p:cNvSpPr/>
          <p:nvPr/>
        </p:nvSpPr>
        <p:spPr>
          <a:xfrm>
            <a:off x="4726305" y="1783080"/>
            <a:ext cx="13773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Features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53328" y="2066544"/>
            <a:ext cx="82296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17" name="Shape 15"/>
          <p:cNvSpPr/>
          <p:nvPr/>
        </p:nvSpPr>
        <p:spPr>
          <a:xfrm>
            <a:off x="6140196" y="1737360"/>
            <a:ext cx="1317879" cy="658368"/>
          </a:xfrm>
          <a:prstGeom prst="roundRect">
            <a:avLst>
              <a:gd name="adj" fmla="val 11111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6195060" y="1783080"/>
            <a:ext cx="120815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62647" y="2066544"/>
            <a:ext cx="82296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20" name="Shape 18"/>
          <p:cNvSpPr/>
          <p:nvPr/>
        </p:nvSpPr>
        <p:spPr>
          <a:xfrm>
            <a:off x="7549515" y="1737360"/>
            <a:ext cx="1317879" cy="658368"/>
          </a:xfrm>
          <a:prstGeom prst="roundRect">
            <a:avLst>
              <a:gd name="adj" fmla="val 11111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1" name="Text 19"/>
          <p:cNvSpPr/>
          <p:nvPr/>
        </p:nvSpPr>
        <p:spPr>
          <a:xfrm>
            <a:off x="7604379" y="1783080"/>
            <a:ext cx="120815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Safety-aware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71966" y="2066544"/>
            <a:ext cx="82296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23" name="Shape 21"/>
          <p:cNvSpPr/>
          <p:nvPr/>
        </p:nvSpPr>
        <p:spPr>
          <a:xfrm>
            <a:off x="8958834" y="1737360"/>
            <a:ext cx="1317879" cy="658368"/>
          </a:xfrm>
          <a:prstGeom prst="roundRect">
            <a:avLst>
              <a:gd name="adj" fmla="val 11111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4" name="Text 22"/>
          <p:cNvSpPr/>
          <p:nvPr/>
        </p:nvSpPr>
        <p:spPr>
          <a:xfrm>
            <a:off x="9013698" y="1783080"/>
            <a:ext cx="120815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Reasons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281285" y="2066544"/>
            <a:ext cx="82296" cy="0"/>
          </a:xfrm>
          <a:prstGeom prst="line">
            <a:avLst/>
          </a:prstGeom>
          <a:noFill/>
          <a:ln w="19050">
            <a:solidFill>
              <a:srgbClr val="8FA9BC"/>
            </a:solidFill>
            <a:prstDash val="solid"/>
            <a:tailEnd type="triangle"/>
          </a:ln>
        </p:spPr>
        <p:txBody>
          <a:bodyPr/>
          <a:lstStyle/>
          <a:p>
            <a:endParaRPr lang="en-HK"/>
          </a:p>
        </p:txBody>
      </p:sp>
      <p:sp>
        <p:nvSpPr>
          <p:cNvPr id="26" name="Shape 24"/>
          <p:cNvSpPr/>
          <p:nvPr/>
        </p:nvSpPr>
        <p:spPr>
          <a:xfrm>
            <a:off x="10368153" y="1737360"/>
            <a:ext cx="1317879" cy="658368"/>
          </a:xfrm>
          <a:prstGeom prst="roundRect">
            <a:avLst>
              <a:gd name="adj" fmla="val 11111"/>
            </a:avLst>
          </a:prstGeom>
          <a:solidFill>
            <a:srgbClr val="0F3A4D"/>
          </a:solidFill>
          <a:ln w="12700">
            <a:solidFill>
              <a:srgbClr val="0F3A4D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7" name="Text 25"/>
          <p:cNvSpPr/>
          <p:nvPr/>
        </p:nvSpPr>
        <p:spPr>
          <a:xfrm>
            <a:off x="10423017" y="1783080"/>
            <a:ext cx="1208151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9491" y="2669032"/>
            <a:ext cx="6903720" cy="3767328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9" name="Text 27"/>
          <p:cNvSpPr/>
          <p:nvPr/>
        </p:nvSpPr>
        <p:spPr>
          <a:xfrm>
            <a:off x="740664" y="277977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QUEUE FEATURES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" y="3072384"/>
            <a:ext cx="6446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reused from the original triage evaluation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0664" y="3310128"/>
            <a:ext cx="1538478" cy="402336"/>
          </a:xfrm>
          <a:prstGeom prst="roundRect">
            <a:avLst>
              <a:gd name="adj" fmla="val 1818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2" name="Text 30"/>
          <p:cNvSpPr/>
          <p:nvPr/>
        </p:nvSpPr>
        <p:spPr>
          <a:xfrm>
            <a:off x="795528" y="3355848"/>
            <a:ext cx="142875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policy_score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370582" y="3310128"/>
            <a:ext cx="1538478" cy="402336"/>
          </a:xfrm>
          <a:prstGeom prst="roundRect">
            <a:avLst>
              <a:gd name="adj" fmla="val 1818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4" name="Text 32"/>
          <p:cNvSpPr/>
          <p:nvPr/>
        </p:nvSpPr>
        <p:spPr>
          <a:xfrm>
            <a:off x="2296668" y="3363976"/>
            <a:ext cx="163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documentation_score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00500" y="3310128"/>
            <a:ext cx="1538478" cy="402336"/>
          </a:xfrm>
          <a:prstGeom prst="roundRect">
            <a:avLst>
              <a:gd name="adj" fmla="val 1818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6" name="Text 34"/>
          <p:cNvSpPr/>
          <p:nvPr/>
        </p:nvSpPr>
        <p:spPr>
          <a:xfrm>
            <a:off x="3909060" y="3375152"/>
            <a:ext cx="1703070" cy="29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clinical_evidence_score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30418" y="3310128"/>
            <a:ext cx="1538478" cy="402336"/>
          </a:xfrm>
          <a:prstGeom prst="roundRect">
            <a:avLst>
              <a:gd name="adj" fmla="val 18182"/>
            </a:avLst>
          </a:prstGeom>
          <a:solidFill>
            <a:srgbClr val="EAF4F3"/>
          </a:solidFill>
          <a:ln w="12700">
            <a:solidFill>
              <a:srgbClr val="BFE0DC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38" name="Text 36"/>
          <p:cNvSpPr/>
          <p:nvPr/>
        </p:nvSpPr>
        <p:spPr>
          <a:xfrm>
            <a:off x="5630418" y="3369564"/>
            <a:ext cx="1556766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num_criteria_missing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0664" y="3858768"/>
            <a:ext cx="6446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recalculated on every queue load (time-sensitive)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0664" y="4096512"/>
            <a:ext cx="2081784" cy="402336"/>
          </a:xfrm>
          <a:prstGeom prst="roundRect">
            <a:avLst>
              <a:gd name="adj" fmla="val 18182"/>
            </a:avLst>
          </a:prstGeom>
          <a:solidFill>
            <a:srgbClr val="F2F0FA"/>
          </a:solidFill>
          <a:ln w="12700">
            <a:solidFill>
              <a:srgbClr val="D8D2F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1" name="Text 39"/>
          <p:cNvSpPr/>
          <p:nvPr/>
        </p:nvSpPr>
        <p:spPr>
          <a:xfrm>
            <a:off x="795528" y="4142232"/>
            <a:ext cx="1972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hours_pending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13888" y="4096512"/>
            <a:ext cx="2081784" cy="402336"/>
          </a:xfrm>
          <a:prstGeom prst="roundRect">
            <a:avLst>
              <a:gd name="adj" fmla="val 18182"/>
            </a:avLst>
          </a:prstGeom>
          <a:solidFill>
            <a:srgbClr val="F2F0FA"/>
          </a:solidFill>
          <a:ln w="12700">
            <a:solidFill>
              <a:srgbClr val="D8D2F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3" name="Text 41"/>
          <p:cNvSpPr/>
          <p:nvPr/>
        </p:nvSpPr>
        <p:spPr>
          <a:xfrm>
            <a:off x="2968752" y="4142232"/>
            <a:ext cx="1972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sla_pressure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87112" y="4096512"/>
            <a:ext cx="2081784" cy="402336"/>
          </a:xfrm>
          <a:prstGeom prst="roundRect">
            <a:avLst>
              <a:gd name="adj" fmla="val 18182"/>
            </a:avLst>
          </a:prstGeom>
          <a:solidFill>
            <a:srgbClr val="F2F0FA"/>
          </a:solidFill>
          <a:ln w="12700">
            <a:solidFill>
              <a:srgbClr val="D8D2F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5" name="Text 43"/>
          <p:cNvSpPr/>
          <p:nvPr/>
        </p:nvSpPr>
        <p:spPr>
          <a:xfrm>
            <a:off x="5141976" y="4142232"/>
            <a:ext cx="1972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urgency_weight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0664" y="4553712"/>
            <a:ext cx="2069592" cy="402336"/>
          </a:xfrm>
          <a:prstGeom prst="roundRect">
            <a:avLst>
              <a:gd name="adj" fmla="val 18182"/>
            </a:avLst>
          </a:prstGeom>
          <a:solidFill>
            <a:srgbClr val="F2F0FA"/>
          </a:solidFill>
          <a:ln w="12700">
            <a:solidFill>
              <a:srgbClr val="D8D2F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7" name="Text 45"/>
          <p:cNvSpPr/>
          <p:nvPr/>
        </p:nvSpPr>
        <p:spPr>
          <a:xfrm>
            <a:off x="795528" y="4599432"/>
            <a:ext cx="1959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care_setting_weight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01696" y="4553712"/>
            <a:ext cx="2069592" cy="402336"/>
          </a:xfrm>
          <a:prstGeom prst="roundRect">
            <a:avLst>
              <a:gd name="adj" fmla="val 18182"/>
            </a:avLst>
          </a:prstGeom>
          <a:solidFill>
            <a:srgbClr val="F2F0FA"/>
          </a:solidFill>
          <a:ln w="12700">
            <a:solidFill>
              <a:srgbClr val="D8D2F0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49" name="Text 47"/>
          <p:cNvSpPr/>
          <p:nvPr/>
        </p:nvSpPr>
        <p:spPr>
          <a:xfrm>
            <a:off x="2956560" y="4599432"/>
            <a:ext cx="1959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clinical_risk_weight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40664" y="5041391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split: what the triage pipeline already computed is reused as-is; what changes purely by the clock (queue wait, SLA pressure) must be recalculated every time the queue opens.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40664" y="5687568"/>
            <a:ext cx="6428232" cy="0"/>
          </a:xfrm>
          <a:prstGeom prst="line">
            <a:avLst/>
          </a:prstGeom>
          <a:noFill/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2" name="Text 50"/>
          <p:cNvSpPr/>
          <p:nvPr/>
        </p:nvSpPr>
        <p:spPr>
          <a:xfrm>
            <a:off x="740664" y="5687568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priority score, a queue position, and a short written reason per case. The queue recalculates regularly, so a longer wait moves a case up over time.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571232" y="2660904"/>
            <a:ext cx="4114800" cy="3767328"/>
          </a:xfrm>
          <a:prstGeom prst="roundRect">
            <a:avLst>
              <a:gd name="adj" fmla="val 8000"/>
            </a:avLst>
          </a:prstGeom>
          <a:solidFill>
            <a:srgbClr val="0F3A4D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4" name="Text 52"/>
          <p:cNvSpPr/>
          <p:nvPr/>
        </p:nvSpPr>
        <p:spPr>
          <a:xfrm>
            <a:off x="7626096" y="4187952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7644384" y="4562856"/>
            <a:ext cx="39684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NDCG@5 — how well top-ranked cases match the priority rule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A8BA4D1-44DF-E52D-5E01-024C2B568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86335"/>
            <a:ext cx="1765935" cy="5886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3671" y="100397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Cloud Architecture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75351-18C0-EEAB-1994-09998E082E4F}"/>
              </a:ext>
            </a:extLst>
          </p:cNvPr>
          <p:cNvSpPr txBox="1"/>
          <p:nvPr/>
        </p:nvSpPr>
        <p:spPr>
          <a:xfrm>
            <a:off x="213671" y="721253"/>
            <a:ext cx="9500895" cy="590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30"/>
              </a:spcAft>
              <a:buNone/>
            </a:pPr>
            <a:r>
              <a:rPr lang="en-HK" sz="2000" b="1" i="0" dirty="0">
                <a:solidFill>
                  <a:srgbClr val="0D0D0D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AWS-based Production Architecture:</a:t>
            </a:r>
          </a:p>
          <a:p>
            <a:pPr>
              <a:spcAft>
                <a:spcPts val="130"/>
              </a:spcAft>
            </a:pPr>
            <a:r>
              <a:rPr lang="en-HK" sz="2000" b="1" dirty="0">
                <a:latin typeface="Cambria" panose="02040503050406030204" pitchFamily="18" charset="0"/>
                <a:ea typeface="Cambria" panose="02040503050406030204" pitchFamily="18" charset="0"/>
              </a:rPr>
              <a:t>Application Services:</a:t>
            </a:r>
            <a:endParaRPr lang="en-HK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Frontend: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React/Vite → AWS ECS Fargate + Application Load Balancer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Backend: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Node.js/Express → AWS ECS Fargate + Application Load Balancer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ML/RAG: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Python </a:t>
            </a:r>
            <a:r>
              <a:rPr lang="en-HK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FastAPI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 → Private ECS Fargate service</a:t>
            </a:r>
          </a:p>
          <a:p>
            <a:pPr>
              <a:lnSpc>
                <a:spcPct val="150000"/>
              </a:lnSpc>
              <a:spcAft>
                <a:spcPts val="130"/>
              </a:spcAft>
            </a:pPr>
            <a:r>
              <a:rPr lang="en-HK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 &amp; AI Infrastructure: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Amazon RDS PostgreSQL 17 + </a:t>
            </a:r>
            <a:r>
              <a:rPr lang="en-HK" sz="1800" b="1" dirty="0" err="1">
                <a:latin typeface="Cambria" panose="02040503050406030204" pitchFamily="18" charset="0"/>
                <a:ea typeface="Cambria" panose="02040503050406030204" pitchFamily="18" charset="0"/>
              </a:rPr>
              <a:t>pgvector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→ Application data &amp; policy embeddings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Amazon S3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→ Triage and </a:t>
            </a:r>
            <a:r>
              <a:rPr lang="en-HK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 Ranker model artifacts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MongoDB Atlas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→ </a:t>
            </a:r>
            <a:r>
              <a:rPr lang="en-HK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LangGraph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 agent checkpoint state</a:t>
            </a:r>
          </a:p>
          <a:p>
            <a:pPr>
              <a:lnSpc>
                <a:spcPct val="150000"/>
              </a:lnSpc>
              <a:spcAft>
                <a:spcPts val="130"/>
              </a:spcAft>
            </a:pPr>
            <a:r>
              <a:rPr lang="en-HK" sz="2000" b="1" dirty="0">
                <a:latin typeface="Cambria" panose="02040503050406030204" pitchFamily="18" charset="0"/>
                <a:ea typeface="Cambria" panose="02040503050406030204" pitchFamily="18" charset="0"/>
              </a:rPr>
              <a:t>Networking &amp; Security: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AWS Copilot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→ Manages ECS, VPC, networking, ALB and service infrastructure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Service Connect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→ Secure backend → ML/RAG communication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Private VPC/Subnets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→ RDS and ML/RAG protected from direct public access</a:t>
            </a:r>
          </a:p>
          <a:p>
            <a:pPr marL="285750" lvl="0" indent="-285750">
              <a:lnSpc>
                <a:spcPct val="150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HK" sz="1800" b="1" dirty="0">
                <a:latin typeface="Cambria" panose="02040503050406030204" pitchFamily="18" charset="0"/>
                <a:ea typeface="Cambria" panose="02040503050406030204" pitchFamily="18" charset="0"/>
              </a:rPr>
              <a:t>SSM / Secrets Manager</a:t>
            </a:r>
            <a:r>
              <a:rPr lang="en-HK" sz="1800" dirty="0">
                <a:latin typeface="Cambria" panose="02040503050406030204" pitchFamily="18" charset="0"/>
                <a:ea typeface="Cambria" panose="02040503050406030204" pitchFamily="18" charset="0"/>
              </a:rPr>
              <a:t> → Credentials, API keys and encryption configuration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BF85B6-9C1E-135D-04A0-EAE86E0E0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469" y="449924"/>
            <a:ext cx="3514531" cy="64080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21E673-064C-47FE-885E-B7BA18428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427111"/>
            <a:ext cx="1343608" cy="4478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BUILT WITH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6177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528" y="193852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React, Vite · react-three-fiber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276856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Node.js, Express · Sequelize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61518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Python, FastAPI (Triage API)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2953512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+ bcrypt authentication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5060" y="137160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6469380" y="155448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Orchestration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87668" y="193852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LangGraph workflow orchestration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87668" y="2276856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Groq · openai/gpt-oss-120b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7668" y="261518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sentence-transformers/all-MiniLM-L6-v2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7668" y="2953512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scikit-learn Logistic Regression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87668" y="3291840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XGBoost Ranker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777240" y="411480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5528" y="449884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17 + pgvector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5528" y="4837176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 Atlas (agent state)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517550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Vector similarity search (HNSW)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5060" y="393192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Text 21"/>
          <p:cNvSpPr/>
          <p:nvPr/>
        </p:nvSpPr>
        <p:spPr>
          <a:xfrm>
            <a:off x="6469380" y="411480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Infrastructure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87668" y="449884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ECS Fargate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87668" y="4837176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Amazon RDS · Amazon S3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87668" y="517550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Application Load Balancer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87668" y="5513832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Copilot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9AFB2E5-7018-51FE-24FD-DBF3B671A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389" y="37541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0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27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get care faster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379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that used to sit in a manual review queue for days can be evidence-checked and routed in minutes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Shape 8"/>
          <p:cNvSpPr/>
          <p:nvPr/>
        </p:nvSpPr>
        <p:spPr>
          <a:xfrm>
            <a:off x="685800" y="262432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871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spend less time on paperwork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7980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already call prior-auth paperwork a major burden — this moves the evidence-gathering work off their desk entirely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Shape 13"/>
          <p:cNvSpPr/>
          <p:nvPr/>
        </p:nvSpPr>
        <p:spPr>
          <a:xfrm>
            <a:off x="685800" y="358444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685800" y="3584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4472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focus on judgment, not searching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7581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opens a case with the policy, the evidence, and the reasoning already assembled — they decide, they don't dig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1" name="Text 19"/>
          <p:cNvSpPr/>
          <p:nvPr/>
        </p:nvSpPr>
        <p:spPr>
          <a:xfrm>
            <a:off x="685800" y="4544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4074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reduce cost and compliance risk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7183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policy-grounded decisions cut reviewer-to-reviewer variation and the liability that comes with it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25780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5" name="Shape 23"/>
          <p:cNvSpPr/>
          <p:nvPr/>
        </p:nvSpPr>
        <p:spPr>
          <a:xfrm>
            <a:off x="685800" y="550468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6" name="Text 24"/>
          <p:cNvSpPr/>
          <p:nvPr/>
        </p:nvSpPr>
        <p:spPr>
          <a:xfrm>
            <a:off x="685800" y="5504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3675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 black box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6784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its evidence and reasoning — a patient, a doctor, or an auditor can always see why a call was made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94576" y="1344168"/>
            <a:ext cx="2308860" cy="1715008"/>
          </a:xfrm>
          <a:prstGeom prst="roundRect">
            <a:avLst>
              <a:gd name="adj" fmla="val 5556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0" name="Text 28"/>
          <p:cNvSpPr/>
          <p:nvPr/>
        </p:nvSpPr>
        <p:spPr>
          <a:xfrm>
            <a:off x="7086600" y="1545336"/>
            <a:ext cx="19248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086600" y="2313432"/>
            <a:ext cx="1924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less time chasing paperwork, more time with patients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98508" y="1344168"/>
            <a:ext cx="2290572" cy="1715008"/>
          </a:xfrm>
          <a:prstGeom prst="roundRect">
            <a:avLst>
              <a:gd name="adj" fmla="val 5556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3" name="Text 31"/>
          <p:cNvSpPr/>
          <p:nvPr/>
        </p:nvSpPr>
        <p:spPr>
          <a:xfrm>
            <a:off x="9578340" y="1545336"/>
            <a:ext cx="19248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Nurses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578340" y="2313432"/>
            <a:ext cx="1924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 case with the evidence already gathered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45521" y="3255264"/>
            <a:ext cx="2290572" cy="1715008"/>
          </a:xfrm>
          <a:prstGeom prst="roundRect">
            <a:avLst>
              <a:gd name="adj" fmla="val 5556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6" name="Text 34"/>
          <p:cNvSpPr/>
          <p:nvPr/>
        </p:nvSpPr>
        <p:spPr>
          <a:xfrm>
            <a:off x="7086600" y="3227832"/>
            <a:ext cx="19248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Admins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086600" y="3995928"/>
            <a:ext cx="1924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automation helps and where it doesn't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460774" y="3246120"/>
            <a:ext cx="2290572" cy="1715008"/>
          </a:xfrm>
          <a:prstGeom prst="roundRect">
            <a:avLst>
              <a:gd name="adj" fmla="val 5556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9" name="Text 37"/>
          <p:cNvSpPr/>
          <p:nvPr/>
        </p:nvSpPr>
        <p:spPr>
          <a:xfrm>
            <a:off x="9578340" y="3227832"/>
            <a:ext cx="19248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9578340" y="3995928"/>
            <a:ext cx="1924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their request is moving, and why a call was made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BE6B866-44B7-0678-F8B5-AA475BFAE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177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Coverage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528" y="1938528"/>
            <a:ext cx="51983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corpus is curated manually, not payer-synced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76856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Covers Medicare-style policies only, in English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61518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multi-jurisdiction or state-specific rule variants yet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953512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9956" y="137160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6469380" y="155448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Scale</a:t>
            </a:r>
          </a:p>
        </p:txBody>
      </p:sp>
      <p:sp>
        <p:nvSpPr>
          <p:cNvPr id="12" name="Text 10"/>
          <p:cNvSpPr/>
          <p:nvPr/>
        </p:nvSpPr>
        <p:spPr>
          <a:xfrm>
            <a:off x="6487668" y="1938528"/>
            <a:ext cx="4942332" cy="1430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platform covers the core PA lifecycle from submission and evidence gathering through triage, prioritization, and review.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authorization scenarios and workflow automations can be progressively added.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7668" y="261518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7668" y="3291840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" y="3933412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777240" y="411480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Scope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5528" y="460708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Decision model deliberately bounded to 4 structured 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" y="4837176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" y="5043569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dedicated model yet for the "Request More Info" branch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5060" y="393192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 dirty="0"/>
          </a:p>
        </p:txBody>
      </p:sp>
      <p:sp>
        <p:nvSpPr>
          <p:cNvPr id="23" name="Text 21"/>
          <p:cNvSpPr/>
          <p:nvPr/>
        </p:nvSpPr>
        <p:spPr>
          <a:xfrm>
            <a:off x="6469380" y="411480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Intelligence Is Limited to Pending Cases</a:t>
            </a:r>
          </a:p>
        </p:txBody>
      </p:sp>
      <p:sp>
        <p:nvSpPr>
          <p:cNvPr id="24" name="Text 22"/>
          <p:cNvSpPr/>
          <p:nvPr/>
        </p:nvSpPr>
        <p:spPr>
          <a:xfrm>
            <a:off x="6487668" y="4498847"/>
            <a:ext cx="4942332" cy="442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prioritization operates only after a request enters PEND.</a:t>
            </a:r>
          </a:p>
        </p:txBody>
      </p:sp>
      <p:sp>
        <p:nvSpPr>
          <p:cNvPr id="25" name="Text 23"/>
          <p:cNvSpPr/>
          <p:nvPr/>
        </p:nvSpPr>
        <p:spPr>
          <a:xfrm>
            <a:off x="6487668" y="4837176"/>
            <a:ext cx="49423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and clinical risk drive review priority.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intelligence manages queues, not authorization.</a:t>
            </a:r>
          </a:p>
        </p:txBody>
      </p:sp>
      <p:sp>
        <p:nvSpPr>
          <p:cNvPr id="26" name="Text 24"/>
          <p:cNvSpPr/>
          <p:nvPr/>
        </p:nvSpPr>
        <p:spPr>
          <a:xfrm>
            <a:off x="6487668" y="517550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87668" y="5513832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4DDA2D0-18F9-DB29-D001-A364AD217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177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Plans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Integration (India)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8185" y="2049189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Ayushman Bharat PM-JAY claims &amp; pre-auth API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8185" y="2435476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Auto-map requests to Health Benefit Package rates &amp; rules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8185" y="278434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ABHA ID verification for instant beneficiary lookup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953512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5060" y="137160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6469380" y="155448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Evolution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20325" y="2049189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Dedicated model for the "Request More Information" outcome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20325" y="239572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Feedback-driven retraining pipeline for both ML models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7668" y="261518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7668" y="2953512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20325" y="2697480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Multi-jurisdiction rule support — state &amp; national schemes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" y="3943676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8" name="Text 16"/>
          <p:cNvSpPr/>
          <p:nvPr/>
        </p:nvSpPr>
        <p:spPr>
          <a:xfrm>
            <a:off x="777240" y="411480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Automation</a:t>
            </a:r>
            <a:endParaRPr lang="en-US" b="1" dirty="0">
              <a:solidFill>
                <a:srgbClr val="0F3A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5528" y="4498848"/>
            <a:ext cx="4942332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automated evidence extraction across authorization types</a:t>
            </a:r>
          </a:p>
        </p:txBody>
      </p:sp>
      <p:sp>
        <p:nvSpPr>
          <p:cNvPr id="20" name="Text 18"/>
          <p:cNvSpPr/>
          <p:nvPr/>
        </p:nvSpPr>
        <p:spPr>
          <a:xfrm>
            <a:off x="777240" y="499262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document intelligence for complex submissions</a:t>
            </a:r>
          </a:p>
        </p:txBody>
      </p:sp>
      <p:sp>
        <p:nvSpPr>
          <p:cNvPr id="21" name="Text 19"/>
          <p:cNvSpPr/>
          <p:nvPr/>
        </p:nvSpPr>
        <p:spPr>
          <a:xfrm>
            <a:off x="795528" y="5411629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resubmission and missing-information workflows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5060" y="3931920"/>
            <a:ext cx="54909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3" name="Text 21"/>
          <p:cNvSpPr/>
          <p:nvPr/>
        </p:nvSpPr>
        <p:spPr>
          <a:xfrm>
            <a:off x="6469380" y="4114800"/>
            <a:ext cx="49423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Product Expansion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87668" y="449884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87668" y="456957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app for doctors and nurses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87668" y="493318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Multi-language support — Hindi and regional languages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20325" y="5324047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 payer/scheme policy feed, replacing manual ingestion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EC96C6B-CFD5-6874-2416-3CF803664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C59BB-9187-6169-72D9-B69EF416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7F11A1C-A15A-9838-7E5C-625259382B16}"/>
              </a:ext>
            </a:extLst>
          </p:cNvPr>
          <p:cNvSpPr/>
          <p:nvPr/>
        </p:nvSpPr>
        <p:spPr>
          <a:xfrm>
            <a:off x="316308" y="125113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and Analytics: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40BB70-D775-528B-4B41-1229892E61AE}"/>
              </a:ext>
            </a:extLst>
          </p:cNvPr>
          <p:cNvSpPr/>
          <p:nvPr/>
        </p:nvSpPr>
        <p:spPr>
          <a:xfrm>
            <a:off x="6487668" y="2615184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26C906-32C7-C1B1-7AA3-D3F813B090E0}"/>
              </a:ext>
            </a:extLst>
          </p:cNvPr>
          <p:cNvSpPr/>
          <p:nvPr/>
        </p:nvSpPr>
        <p:spPr>
          <a:xfrm>
            <a:off x="6487668" y="2953512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DCAD43-3A20-C8F5-CF93-20B263299AA2}"/>
              </a:ext>
            </a:extLst>
          </p:cNvPr>
          <p:cNvSpPr/>
          <p:nvPr/>
        </p:nvSpPr>
        <p:spPr>
          <a:xfrm>
            <a:off x="6487668" y="4498848"/>
            <a:ext cx="49423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626328A-E6CB-17CB-9B98-E25FC376326E}"/>
              </a:ext>
            </a:extLst>
          </p:cNvPr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37E2568-923B-9CDE-E37F-B577C0ED6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3841E69-5914-9525-30B4-82FAF991A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92" y="622732"/>
            <a:ext cx="5793824" cy="290424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ED904F9-7E2A-07DD-4A6E-C7D218359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416" y="622732"/>
            <a:ext cx="5720672" cy="279161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25CC278-B8AD-EE1A-7C8E-576A1E4AE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22" y="3414553"/>
            <a:ext cx="5831557" cy="2820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5464016-DA21-0EF2-CA4F-FA7CEE054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694" y="3404119"/>
            <a:ext cx="5771394" cy="28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16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0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 &amp; KPIs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270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Evidence-grounded, not guesswork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379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RAG-retrieved policy passages, not an LLM's memory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0" name="Shape 8"/>
          <p:cNvSpPr/>
          <p:nvPr/>
        </p:nvSpPr>
        <p:spPr>
          <a:xfrm>
            <a:off x="685800" y="262432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871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Two-model separation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7980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agents gather; small ML models decide and prioritize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15" name="Shape 13"/>
          <p:cNvSpPr/>
          <p:nvPr/>
        </p:nvSpPr>
        <p:spPr>
          <a:xfrm>
            <a:off x="685800" y="358444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6" name="Text 14"/>
          <p:cNvSpPr/>
          <p:nvPr/>
        </p:nvSpPr>
        <p:spPr>
          <a:xfrm>
            <a:off x="685800" y="3584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4472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7581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formula + plain-language reasoning for every case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1" name="Text 19"/>
          <p:cNvSpPr/>
          <p:nvPr/>
        </p:nvSpPr>
        <p:spPr>
          <a:xfrm>
            <a:off x="685800" y="4544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4074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by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7183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overrides always outrank a learned score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25780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AEA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25" name="Shape 23"/>
          <p:cNvSpPr/>
          <p:nvPr/>
        </p:nvSpPr>
        <p:spPr>
          <a:xfrm>
            <a:off x="685800" y="5504688"/>
            <a:ext cx="347472" cy="347472"/>
          </a:xfrm>
          <a:prstGeom prst="ellipse">
            <a:avLst/>
          </a:prstGeom>
          <a:solidFill>
            <a:srgbClr val="EAF4F3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6" name="Text 24"/>
          <p:cNvSpPr/>
          <p:nvPr/>
        </p:nvSpPr>
        <p:spPr>
          <a:xfrm>
            <a:off x="685800" y="5504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3675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6784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across policy versions and model versions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62363" y="1391919"/>
            <a:ext cx="2290572" cy="1675187"/>
          </a:xfrm>
          <a:prstGeom prst="roundRect">
            <a:avLst>
              <a:gd name="adj" fmla="val 5556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0" name="Text 28"/>
          <p:cNvSpPr/>
          <p:nvPr/>
        </p:nvSpPr>
        <p:spPr>
          <a:xfrm>
            <a:off x="7145243" y="1554162"/>
            <a:ext cx="19248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83.7%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086600" y="2313432"/>
            <a:ext cx="1924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test accuracy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457882" y="1402369"/>
            <a:ext cx="2290572" cy="1675187"/>
          </a:xfrm>
          <a:prstGeom prst="roundRect">
            <a:avLst>
              <a:gd name="adj" fmla="val 5556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3" name="Text 31"/>
          <p:cNvSpPr/>
          <p:nvPr/>
        </p:nvSpPr>
        <p:spPr>
          <a:xfrm>
            <a:off x="9578340" y="1545336"/>
            <a:ext cx="19248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578340" y="2313432"/>
            <a:ext cx="1924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a fully unseen service category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22008" y="3337560"/>
            <a:ext cx="2371282" cy="1801368"/>
          </a:xfrm>
          <a:prstGeom prst="roundRect">
            <a:avLst>
              <a:gd name="adj" fmla="val 5556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6" name="Text 34"/>
          <p:cNvSpPr/>
          <p:nvPr/>
        </p:nvSpPr>
        <p:spPr>
          <a:xfrm>
            <a:off x="7145243" y="3593592"/>
            <a:ext cx="19248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086600" y="4448556"/>
            <a:ext cx="1924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test ROC-AUC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457882" y="3333496"/>
            <a:ext cx="2290572" cy="1801368"/>
          </a:xfrm>
          <a:prstGeom prst="roundRect">
            <a:avLst>
              <a:gd name="adj" fmla="val 5556"/>
            </a:avLst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9" name="Text 37"/>
          <p:cNvSpPr/>
          <p:nvPr/>
        </p:nvSpPr>
        <p:spPr>
          <a:xfrm>
            <a:off x="9646920" y="3525105"/>
            <a:ext cx="19248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9578340" y="4466844"/>
            <a:ext cx="1924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test NDCG@5 (priority ranking)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4DD5195-5A3B-A965-F3DF-931F2AB33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3" y="6132336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708961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92174" y="1828800"/>
            <a:ext cx="1188720" cy="11887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5" name="Text 3"/>
          <p:cNvSpPr/>
          <p:nvPr/>
        </p:nvSpPr>
        <p:spPr>
          <a:xfrm>
            <a:off x="1392174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7487" y="3259068"/>
            <a:ext cx="267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.N</a:t>
            </a:r>
          </a:p>
          <a:p>
            <a:pPr marL="0" indent="0" algn="ctr">
              <a:buNone/>
            </a:pPr>
            <a:r>
              <a:rPr lang="en-US" sz="13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Leader, Backend + Agents + Cloud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3682" y="1828800"/>
            <a:ext cx="1188720" cy="11887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8" name="Text 6"/>
          <p:cNvSpPr/>
          <p:nvPr/>
        </p:nvSpPr>
        <p:spPr>
          <a:xfrm>
            <a:off x="4313682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98748" y="3236716"/>
            <a:ext cx="2418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</a:t>
            </a:r>
            <a:r>
              <a:rPr lang="en-US" sz="1200" b="1" dirty="0" err="1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Kevin.D</a:t>
            </a:r>
            <a:endParaRPr lang="en-US" sz="1200" b="1" dirty="0">
              <a:solidFill>
                <a:srgbClr val="0F3A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Frontend + DB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35190" y="1828800"/>
            <a:ext cx="1188720" cy="1188720"/>
          </a:xfrm>
          <a:prstGeom prst="ellipse">
            <a:avLst/>
          </a:prstGeom>
          <a:solidFill>
            <a:srgbClr val="1B5A70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1" name="Text 9"/>
          <p:cNvSpPr/>
          <p:nvPr/>
        </p:nvSpPr>
        <p:spPr>
          <a:xfrm>
            <a:off x="723519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14278" y="3240284"/>
            <a:ext cx="2418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Amish S R</a:t>
            </a:r>
          </a:p>
          <a:p>
            <a:pPr marL="0" indent="0" algn="ctr"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R&amp;D + Backend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156698" y="1828800"/>
            <a:ext cx="1188720" cy="1188720"/>
          </a:xfrm>
          <a:prstGeom prst="ellipse">
            <a:avLst/>
          </a:prstGeom>
          <a:solidFill>
            <a:srgbClr val="5A4FA0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4" name="Text 12"/>
          <p:cNvSpPr/>
          <p:nvPr/>
        </p:nvSpPr>
        <p:spPr>
          <a:xfrm>
            <a:off x="10156698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41764" y="3280657"/>
            <a:ext cx="2418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Kavidharan.P</a:t>
            </a:r>
            <a:endParaRPr lang="en-US" sz="1200" b="1" dirty="0">
              <a:solidFill>
                <a:srgbClr val="0F3A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UI Designing + Cloud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92174" y="4023360"/>
            <a:ext cx="1188720" cy="11887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17" name="Text 15"/>
          <p:cNvSpPr/>
          <p:nvPr/>
        </p:nvSpPr>
        <p:spPr>
          <a:xfrm>
            <a:off x="1392174" y="40233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5582021"/>
            <a:ext cx="2418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Vishnupriyaa.K</a:t>
            </a:r>
            <a:endParaRPr lang="en-US" sz="1200" b="1" dirty="0">
              <a:solidFill>
                <a:srgbClr val="0F3A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Machine Learning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3682" y="4023360"/>
            <a:ext cx="1188720" cy="11887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0" name="Text 18"/>
          <p:cNvSpPr/>
          <p:nvPr/>
        </p:nvSpPr>
        <p:spPr>
          <a:xfrm>
            <a:off x="4313682" y="40233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87107" y="5550278"/>
            <a:ext cx="2418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Arutselvy.M</a:t>
            </a:r>
            <a:endParaRPr lang="en-US" sz="1200" b="1" dirty="0">
              <a:solidFill>
                <a:srgbClr val="0F3A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Data Engineering + RAG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35190" y="4023360"/>
            <a:ext cx="1188720" cy="1188720"/>
          </a:xfrm>
          <a:prstGeom prst="ellipse">
            <a:avLst/>
          </a:prstGeom>
          <a:solidFill>
            <a:srgbClr val="1B5A70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3" name="Text 21"/>
          <p:cNvSpPr/>
          <p:nvPr/>
        </p:nvSpPr>
        <p:spPr>
          <a:xfrm>
            <a:off x="7235190" y="40233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20256" y="5550278"/>
            <a:ext cx="2418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Harini.S</a:t>
            </a:r>
            <a:endParaRPr lang="en-US" sz="1200" b="1" dirty="0">
              <a:solidFill>
                <a:srgbClr val="0F3A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Frontend + Power-BI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156698" y="4023360"/>
            <a:ext cx="1188720" cy="1188720"/>
          </a:xfrm>
          <a:prstGeom prst="ellipse">
            <a:avLst/>
          </a:prstGeom>
          <a:solidFill>
            <a:srgbClr val="5A4FA0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6" name="Text 24"/>
          <p:cNvSpPr/>
          <p:nvPr/>
        </p:nvSpPr>
        <p:spPr>
          <a:xfrm>
            <a:off x="10156698" y="40233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28658" y="5696712"/>
            <a:ext cx="284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F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Varsha.S</a:t>
            </a:r>
            <a:endParaRPr lang="en-US" sz="1200" b="1" dirty="0">
              <a:solidFill>
                <a:srgbClr val="0F3A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Research And Development + Presentation</a:t>
            </a:r>
            <a:endParaRPr lang="en-HK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73768A7-A5BE-00FF-A37B-53D45B98E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682" y="3892036"/>
            <a:ext cx="1225296" cy="158496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21C376A-729A-B179-EBC8-1804C55DE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174" y="1517332"/>
            <a:ext cx="1291273" cy="166020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9A21006-A1E5-6745-67B5-737CE3006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175" y="1491380"/>
            <a:ext cx="1552792" cy="168616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C35AABE-697B-08D3-EC18-05AB8C74D0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953" y="1487684"/>
            <a:ext cx="1476581" cy="173379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91A22EC-02B9-CC58-DDA5-EEE7EE6486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2683" y="1403303"/>
            <a:ext cx="1486107" cy="177189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C39EDEF-5BEE-F729-62D6-8EC942B043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4910" y="3863848"/>
            <a:ext cx="1590897" cy="167663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BEE2E8B-4DF4-1559-E606-D10266C030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3683" y="3822383"/>
            <a:ext cx="1305107" cy="172426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AC84242-503E-4AC8-9199-B0DF037682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6853" y="3750824"/>
            <a:ext cx="1495634" cy="17337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9534132-852C-2CC9-80E4-284498C63C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097429"/>
            <a:ext cx="2332653" cy="7775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2C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852160" cy="5852160"/>
          </a:xfrm>
          <a:prstGeom prst="ellipse">
            <a:avLst/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" name="Shape 1"/>
          <p:cNvSpPr/>
          <p:nvPr/>
        </p:nvSpPr>
        <p:spPr>
          <a:xfrm>
            <a:off x="8778240" y="3291840"/>
            <a:ext cx="6035040" cy="6035040"/>
          </a:xfrm>
          <a:prstGeom prst="ellipse">
            <a:avLst/>
          </a:prstGeom>
          <a:solidFill>
            <a:srgbClr val="0F3A4D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4" name="Text 2"/>
          <p:cNvSpPr/>
          <p:nvPr/>
        </p:nvSpPr>
        <p:spPr>
          <a:xfrm>
            <a:off x="-60807" y="30632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84248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4CCC0F-1847-6791-80DF-F044C0D8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83140"/>
            <a:ext cx="1984248" cy="874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2080</Words>
  <Application>Microsoft Macintosh PowerPoint</Application>
  <PresentationFormat>Widescreen</PresentationFormat>
  <Paragraphs>364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Abdullah N</cp:lastModifiedBy>
  <cp:revision>11</cp:revision>
  <dcterms:created xsi:type="dcterms:W3CDTF">2026-08-23T14:27:40Z</dcterms:created>
  <dcterms:modified xsi:type="dcterms:W3CDTF">2026-08-24T23:12:31Z</dcterms:modified>
</cp:coreProperties>
</file>